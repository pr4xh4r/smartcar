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B93EF95-89CC-480C-9FBF-CEA03C1E909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1AEB1-D38E-4F09-83C3-06460CA110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F1B4B-35B3-42A4-A1F9-34830DDBCC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B36B9-AF55-4F42-99E1-3BFA91EF1D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2703A9-4FCE-4C38-9900-FB356EAC2A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ED80BB-9C1A-4356-9368-068A993C24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D9A2C8-6D6E-4C0E-A9E9-4ECFD0BAC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3AE84E-A8C6-4E98-8AC9-FE851E8EDB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0BC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640080" y="109728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548640" y="192024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rt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</a:t>
            </a: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48640" y="283464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BCD4"/>
                </a:solidFill>
                <a:effectLst/>
                <a:uFillTx/>
                <a:latin typeface="Calibri"/>
                <a:ea typeface="Calibri"/>
              </a:rPr>
              <a:t>An AI-Powered </a:t>
            </a:r>
            <a:r>
              <a:rPr lang="en-US" sz="1800" b="0" u="none" strike="noStrike">
                <a:solidFill>
                  <a:srgbClr val="00BCD4"/>
                </a:solidFill>
                <a:effectLst/>
                <a:uFillTx/>
                <a:latin typeface="Calibri"/>
                <a:ea typeface="Calibri"/>
              </a:rPr>
              <a:t>Autonomous Vehicle </a:t>
            </a:r>
            <a:r>
              <a:rPr lang="en-US" sz="1800" b="0" u="none" strike="noStrike">
                <a:solidFill>
                  <a:srgbClr val="00BCD4"/>
                </a:solidFill>
                <a:effectLst/>
                <a:uFillTx/>
                <a:latin typeface="Calibri"/>
                <a:ea typeface="Calibri"/>
              </a:rPr>
              <a:t>System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BCD4"/>
                </a:solidFill>
                <a:effectLst/>
                <a:uFillTx/>
                <a:latin typeface="Calibri"/>
                <a:ea typeface="Calibri"/>
              </a:rPr>
              <a:t>with Real-Time IoT </a:t>
            </a:r>
            <a:r>
              <a:rPr lang="en-US" sz="1800" b="0" u="none" strike="noStrike">
                <a:solidFill>
                  <a:srgbClr val="00BCD4"/>
                </a:solidFill>
                <a:effectLst/>
                <a:uFillTx/>
                <a:latin typeface="Calibri"/>
                <a:ea typeface="Calibri"/>
              </a:rPr>
              <a:t>Control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6400800" y="1097280"/>
            <a:ext cx="2377080" cy="2925720"/>
          </a:xfrm>
          <a:prstGeom prst="rect">
            <a:avLst/>
          </a:prstGeom>
          <a:solidFill>
            <a:srgbClr val="1565C0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583680" y="1097280"/>
            <a:ext cx="2011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B.Tec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ct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Submitt</a:t>
            </a: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ed by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Prak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har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Shar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23EEAE</a:t>
            </a:r>
            <a:r>
              <a:rPr lang="en-US" sz="9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C034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Vidhi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Jang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23EEAE</a:t>
            </a:r>
            <a:r>
              <a:rPr lang="en-US" sz="9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C027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Govt. </a:t>
            </a: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Enginee</a:t>
            </a: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ring </a:t>
            </a: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College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Ajmer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2025 -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46818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Raspberry Pi 3  |  Single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Camera  |  Edge AI  |  IoT 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|  Under INR 5,000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Problem </a:t>
            </a: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and Our </a:t>
            </a: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Solution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457200" y="1005840"/>
            <a:ext cx="3931560" cy="3474360"/>
          </a:xfrm>
          <a:prstGeom prst="rect">
            <a:avLst/>
          </a:prstGeom>
          <a:solidFill>
            <a:srgbClr val="FFF3E0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457200" y="1005840"/>
            <a:ext cx="3931560" cy="72720"/>
          </a:xfrm>
          <a:prstGeom prst="rect">
            <a:avLst/>
          </a:prstGeom>
          <a:solidFill>
            <a:srgbClr val="FF8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/>
          <p:cNvPicPr/>
          <p:nvPr/>
        </p:nvPicPr>
        <p:blipFill>
          <a:blip r:embed="rId1"/>
          <a:stretch/>
        </p:blipFill>
        <p:spPr>
          <a:xfrm>
            <a:off x="731520" y="12801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4"/>
          <p:cNvSpPr/>
          <p:nvPr/>
        </p:nvSpPr>
        <p:spPr>
          <a:xfrm>
            <a:off x="1188720" y="12801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8F00"/>
                </a:solidFill>
                <a:effectLst/>
                <a:uFillTx/>
                <a:latin typeface="Trebuchet MS"/>
                <a:ea typeface="Trebuchet MS"/>
              </a:rPr>
              <a:t>The Problem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731520" y="1920240"/>
            <a:ext cx="3382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LiDAR sensors cost $5,000+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Computing units cost $10,000+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Proprietary closed-source software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Inaccessible for students and </a:t>
            </a: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researchers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4754880" y="1005840"/>
            <a:ext cx="3931560" cy="3474360"/>
          </a:xfrm>
          <a:prstGeom prst="rect">
            <a:avLst/>
          </a:prstGeom>
          <a:solidFill>
            <a:srgbClr val="E8F5E9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4754880" y="1005840"/>
            <a:ext cx="3931560" cy="72720"/>
          </a:xfrm>
          <a:prstGeom prst="rect">
            <a:avLst/>
          </a:prstGeom>
          <a:solidFill>
            <a:srgbClr val="43A0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preencoded.png"/>
          <p:cNvPicPr/>
          <p:nvPr/>
        </p:nvPicPr>
        <p:blipFill>
          <a:blip r:embed="rId2"/>
          <a:stretch/>
        </p:blipFill>
        <p:spPr>
          <a:xfrm>
            <a:off x="5029200" y="12801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8"/>
          <p:cNvSpPr/>
          <p:nvPr/>
        </p:nvSpPr>
        <p:spPr>
          <a:xfrm>
            <a:off x="5486400" y="12801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3A047"/>
                </a:solidFill>
                <a:effectLst/>
                <a:uFillTx/>
                <a:latin typeface="Trebuchet MS"/>
                <a:ea typeface="Trebuchet MS"/>
              </a:rPr>
              <a:t>Our 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029200" y="1920240"/>
            <a:ext cx="3382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Raspberry Pi 3 (INR 2,500)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Single Pi Camera (INR 250)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Total cost under INR 5,000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100% open-source software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12121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Edge AI with sub-100ms latency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457200" y="4617720"/>
            <a:ext cx="8229240" cy="8640"/>
          </a:xfrm>
          <a:prstGeom prst="rect">
            <a:avLst/>
          </a:pr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457200" y="4663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SmartCar achieves SAE Level 2 autonomy at 0.1% the cost of commercial systems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System </a:t>
            </a: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Architecture and </a:t>
            </a: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Hardware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457200" y="1051560"/>
            <a:ext cx="4114440" cy="529920"/>
          </a:xfrm>
          <a:prstGeom prst="rect">
            <a:avLst/>
          </a:prstGeom>
          <a:solidFill>
            <a:srgbClr val="1565C0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94360" y="105156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Interface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2194560" y="105156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 App | Telegram | Cloud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2286000" y="15087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07D8B"/>
                </a:solidFill>
                <a:effectLst/>
                <a:uFillTx/>
                <a:latin typeface="Calibri"/>
              </a:rPr>
              <a:t>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457200" y="1710000"/>
            <a:ext cx="4114440" cy="529920"/>
          </a:xfrm>
          <a:prstGeom prst="rect">
            <a:avLst/>
          </a:prstGeom>
          <a:solidFill>
            <a:srgbClr val="1976D2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594360" y="171000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2194560" y="171000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Flask + SocketIO | MQTT | Bot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2286000" y="21672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07D8B"/>
                </a:solidFill>
                <a:effectLst/>
                <a:uFillTx/>
                <a:latin typeface="Calibri"/>
              </a:rPr>
              <a:t>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457200" y="2368440"/>
            <a:ext cx="4114440" cy="529920"/>
          </a:xfrm>
          <a:prstGeom prst="rect">
            <a:avLst/>
          </a:prstGeom>
          <a:solidFill>
            <a:srgbClr val="1E88E5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594360" y="236844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/ Vision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2194560" y="236844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CV Modules (OpenCV)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2286000" y="28256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07D8B"/>
                </a:solidFill>
                <a:effectLst/>
                <a:uFillTx/>
                <a:latin typeface="Calibri"/>
              </a:rPr>
              <a:t>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457200" y="3026520"/>
            <a:ext cx="4114440" cy="529920"/>
          </a:xfrm>
          <a:prstGeom prst="rect">
            <a:avLst/>
          </a:prstGeom>
          <a:solidFill>
            <a:srgbClr val="2196F3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594360" y="302652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2194560" y="302652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GPIO + PWM | Camera | LED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2286000" y="34837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07D8B"/>
                </a:solidFill>
                <a:effectLst/>
                <a:uFillTx/>
                <a:latin typeface="Calibri"/>
              </a:rPr>
              <a:t>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8"/>
          <p:cNvSpPr/>
          <p:nvPr/>
        </p:nvSpPr>
        <p:spPr>
          <a:xfrm>
            <a:off x="457200" y="3684960"/>
            <a:ext cx="4114440" cy="529920"/>
          </a:xfrm>
          <a:prstGeom prst="rect">
            <a:avLst/>
          </a:prstGeom>
          <a:solidFill>
            <a:srgbClr val="42A5F5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594360" y="368496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Hardware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2194560" y="3684960"/>
            <a:ext cx="2285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RPi 3 | L298N | Motors | Camera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1"/>
          <p:cNvSpPr/>
          <p:nvPr/>
        </p:nvSpPr>
        <p:spPr>
          <a:xfrm>
            <a:off x="5029200" y="1051560"/>
            <a:ext cx="3657240" cy="77688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preencoded.png"/>
          <p:cNvPicPr/>
          <p:nvPr/>
        </p:nvPicPr>
        <p:blipFill>
          <a:blip r:embed="rId1"/>
          <a:stretch/>
        </p:blipFill>
        <p:spPr>
          <a:xfrm>
            <a:off x="5212080" y="11887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2"/>
          <p:cNvSpPr/>
          <p:nvPr/>
        </p:nvSpPr>
        <p:spPr>
          <a:xfrm>
            <a:off x="5760720" y="1097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Raspberry Pi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5760720" y="1398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1.2GHz Quad-Core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1GB RAM, WiFi, BT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4"/>
          <p:cNvSpPr/>
          <p:nvPr/>
        </p:nvSpPr>
        <p:spPr>
          <a:xfrm>
            <a:off x="5029200" y="1965960"/>
            <a:ext cx="3657240" cy="77688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1" descr="preencoded.png"/>
          <p:cNvPicPr/>
          <p:nvPr/>
        </p:nvPicPr>
        <p:blipFill>
          <a:blip r:embed="rId2"/>
          <a:stretch/>
        </p:blipFill>
        <p:spPr>
          <a:xfrm>
            <a:off x="5212080" y="21031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25"/>
          <p:cNvSpPr/>
          <p:nvPr/>
        </p:nvSpPr>
        <p:spPr>
          <a:xfrm>
            <a:off x="5760720" y="2011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Pi Camera v1.3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5760720" y="23133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5MP, 1080p at 30fps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CSI Interface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7"/>
          <p:cNvSpPr/>
          <p:nvPr/>
        </p:nvSpPr>
        <p:spPr>
          <a:xfrm>
            <a:off x="5029200" y="2880360"/>
            <a:ext cx="3657240" cy="77688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2" descr="preencoded.png"/>
          <p:cNvPicPr/>
          <p:nvPr/>
        </p:nvPicPr>
        <p:blipFill>
          <a:blip r:embed="rId3"/>
          <a:stretch/>
        </p:blipFill>
        <p:spPr>
          <a:xfrm>
            <a:off x="5212080" y="30175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8"/>
          <p:cNvSpPr/>
          <p:nvPr/>
        </p:nvSpPr>
        <p:spPr>
          <a:xfrm>
            <a:off x="5760720" y="2926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L298N + 4 Motors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9"/>
          <p:cNvSpPr/>
          <p:nvPr/>
        </p:nvSpPr>
        <p:spPr>
          <a:xfrm>
            <a:off x="5760720" y="32277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Dual H-Bridge Driver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Differential 4WD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0"/>
          <p:cNvSpPr/>
          <p:nvPr/>
        </p:nvSpPr>
        <p:spPr>
          <a:xfrm>
            <a:off x="5029200" y="3794760"/>
            <a:ext cx="3657240" cy="77688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3" descr="preencoded.png"/>
          <p:cNvPicPr/>
          <p:nvPr/>
        </p:nvPicPr>
        <p:blipFill>
          <a:blip r:embed="rId4"/>
          <a:stretch/>
        </p:blipFill>
        <p:spPr>
          <a:xfrm>
            <a:off x="5212080" y="3931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31"/>
          <p:cNvSpPr/>
          <p:nvPr/>
        </p:nvSpPr>
        <p:spPr>
          <a:xfrm>
            <a:off x="5760720" y="3840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Power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2"/>
          <p:cNvSpPr/>
          <p:nvPr/>
        </p:nvSpPr>
        <p:spPr>
          <a:xfrm>
            <a:off x="5760720" y="4142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Li-ion 7.4-12V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LM2596 Buck to 5.1V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3"/>
          <p:cNvSpPr/>
          <p:nvPr/>
        </p:nvSpPr>
        <p:spPr>
          <a:xfrm>
            <a:off x="5029200" y="46634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Total BOM: INR 4,000 to 5,000 (approximately $60)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6 Driving Modes + 6 AI Safety Features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57200" y="8686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65C0"/>
                </a:solidFill>
                <a:effectLst/>
                <a:uFillTx/>
                <a:latin typeface="Trebuchet MS"/>
                <a:ea typeface="Trebuchet MS"/>
              </a:rPr>
              <a:t>Driving Modes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457200" y="1325880"/>
            <a:ext cx="31968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457200" y="1325880"/>
            <a:ext cx="31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914400" y="13258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Manual Control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914400" y="15271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Web/Telegram real-time driving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457200" y="1874520"/>
            <a:ext cx="31968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457200" y="1874520"/>
            <a:ext cx="31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914400" y="18745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Line Following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914400" y="207576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PID controller, black line tracking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457200" y="2423160"/>
            <a:ext cx="31968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457200" y="2423160"/>
            <a:ext cx="31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914400" y="242316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Traffic Light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914400" y="262440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HSV segmentation (R/G/Y)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457200" y="2971800"/>
            <a:ext cx="31968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457200" y="2971800"/>
            <a:ext cx="31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914400" y="297180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Auto Pilot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914400" y="317304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Line follow + traffic combined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9"/>
          <p:cNvSpPr/>
          <p:nvPr/>
        </p:nvSpPr>
        <p:spPr>
          <a:xfrm>
            <a:off x="457200" y="3520440"/>
            <a:ext cx="31968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457200" y="3520440"/>
            <a:ext cx="31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914400" y="352044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Smart Parking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914400" y="37216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FSM-based, green marker detect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457200" y="4069080"/>
            <a:ext cx="31968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457200" y="4069080"/>
            <a:ext cx="31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914400" y="406908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Convoy Mode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914400" y="4270320"/>
            <a:ext cx="3200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HSV color tracking + PD control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4846320" y="8686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8F00"/>
                </a:solidFill>
                <a:effectLst/>
                <a:uFillTx/>
                <a:latin typeface="Trebuchet MS"/>
                <a:ea typeface="Trebuchet MS"/>
              </a:rPr>
              <a:t>AI Safety Features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preencoded.png"/>
          <p:cNvPicPr/>
          <p:nvPr/>
        </p:nvPicPr>
        <p:blipFill>
          <a:blip r:embed="rId1"/>
          <a:stretch/>
        </p:blipFill>
        <p:spPr>
          <a:xfrm>
            <a:off x="4846320" y="13442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28"/>
          <p:cNvSpPr/>
          <p:nvPr/>
        </p:nvSpPr>
        <p:spPr>
          <a:xfrm>
            <a:off x="5303520" y="13258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Collision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9"/>
          <p:cNvSpPr/>
          <p:nvPr/>
        </p:nvSpPr>
        <p:spPr>
          <a:xfrm>
            <a:off x="5303520" y="15271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4-frame tracking + auto-brake + TTC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2"/>
          <a:stretch/>
        </p:blipFill>
        <p:spPr>
          <a:xfrm>
            <a:off x="4846320" y="1892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30"/>
          <p:cNvSpPr/>
          <p:nvPr/>
        </p:nvSpPr>
        <p:spPr>
          <a:xfrm>
            <a:off x="5303520" y="18745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Pedestrian Detection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1"/>
          <p:cNvSpPr/>
          <p:nvPr/>
        </p:nvSpPr>
        <p:spPr>
          <a:xfrm>
            <a:off x="5303520" y="207576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Frame diff + aspect ratio + direction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2" descr="preencoded.png"/>
          <p:cNvPicPr/>
          <p:nvPr/>
        </p:nvPicPr>
        <p:blipFill>
          <a:blip r:embed="rId3"/>
          <a:stretch/>
        </p:blipFill>
        <p:spPr>
          <a:xfrm>
            <a:off x="4846320" y="2441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32"/>
          <p:cNvSpPr/>
          <p:nvPr/>
        </p:nvSpPr>
        <p:spPr>
          <a:xfrm>
            <a:off x="5303520" y="242316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Accident Detection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3"/>
          <p:cNvSpPr/>
          <p:nvPr/>
        </p:nvSpPr>
        <p:spPr>
          <a:xfrm>
            <a:off x="5303520" y="26244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3x baseline spike + SOS + 5 photos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3" descr="preencoded.png"/>
          <p:cNvPicPr/>
          <p:nvPr/>
        </p:nvPicPr>
        <p:blipFill>
          <a:blip r:embed="rId4"/>
          <a:stretch/>
        </p:blipFill>
        <p:spPr>
          <a:xfrm>
            <a:off x="4846320" y="2990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34"/>
          <p:cNvSpPr/>
          <p:nvPr/>
        </p:nvSpPr>
        <p:spPr>
          <a:xfrm>
            <a:off x="5303520" y="29718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Road Condition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5"/>
          <p:cNvSpPr/>
          <p:nvPr/>
        </p:nvSpPr>
        <p:spPr>
          <a:xfrm>
            <a:off x="5303520" y="317304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Laplacian variance + speed adjust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4" descr="preencoded.png"/>
          <p:cNvPicPr/>
          <p:nvPr/>
        </p:nvPicPr>
        <p:blipFill>
          <a:blip r:embed="rId5"/>
          <a:stretch/>
        </p:blipFill>
        <p:spPr>
          <a:xfrm>
            <a:off x="4846320" y="3538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36"/>
          <p:cNvSpPr/>
          <p:nvPr/>
        </p:nvSpPr>
        <p:spPr>
          <a:xfrm>
            <a:off x="5303520" y="352044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Driver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7"/>
          <p:cNvSpPr/>
          <p:nvPr/>
        </p:nvSpPr>
        <p:spPr>
          <a:xfrm>
            <a:off x="5303520" y="37216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Safety score 0-100 from commands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5" descr="preencoded.png"/>
          <p:cNvPicPr/>
          <p:nvPr/>
        </p:nvPicPr>
        <p:blipFill>
          <a:blip r:embed="rId6"/>
          <a:stretch/>
        </p:blipFill>
        <p:spPr>
          <a:xfrm>
            <a:off x="4846320" y="40874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38"/>
          <p:cNvSpPr/>
          <p:nvPr/>
        </p:nvSpPr>
        <p:spPr>
          <a:xfrm>
            <a:off x="5303520" y="40690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D33"/>
                </a:solidFill>
                <a:effectLst/>
                <a:uFillTx/>
                <a:latin typeface="Calibri"/>
                <a:ea typeface="Calibri"/>
              </a:rPr>
              <a:t>Convoy Tracking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9"/>
          <p:cNvSpPr/>
          <p:nvPr/>
        </p:nvSpPr>
        <p:spPr>
          <a:xfrm>
            <a:off x="5303520" y="42703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Color-based follow with PD steering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0"/>
          <p:cNvSpPr/>
          <p:nvPr/>
        </p:nvSpPr>
        <p:spPr>
          <a:xfrm>
            <a:off x="4480560" y="914400"/>
            <a:ext cx="18000" cy="365724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1"/>
          <p:cNvSpPr/>
          <p:nvPr/>
        </p:nvSpPr>
        <p:spPr>
          <a:xfrm>
            <a:off x="457200" y="4663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All AI runs at the edge: ~7 FPS, sub-100ms latency, ~60-75% CPU, 400-500MB RAM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3"/>
                </a:solidFill>
                <a:effectLst/>
                <a:uFillTx/>
                <a:latin typeface="Trebuchet MS"/>
                <a:ea typeface="Trebuchet MS"/>
              </a:rPr>
              <a:t>IoT Integration and Test Results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457200" y="1005840"/>
            <a:ext cx="2559960" cy="182844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457200" y="1005840"/>
            <a:ext cx="2559960" cy="4111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457200" y="10058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Local WiFi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594360" y="1508760"/>
            <a:ext cx="22856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Latency: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565C0"/>
                </a:solidFill>
                <a:effectLst/>
                <a:uFillTx/>
                <a:latin typeface="Calibri"/>
                <a:ea typeface="Calibri"/>
              </a:rPr>
              <a:t>&lt;10ms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Protocol: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Flask + SocketIO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Internet: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Not needed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3291840" y="1005840"/>
            <a:ext cx="2559960" cy="182844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3291840" y="1005840"/>
            <a:ext cx="2559960" cy="411120"/>
          </a:xfrm>
          <a:prstGeom prst="rect">
            <a:avLst/>
          </a:prstGeom>
          <a:solidFill>
            <a:srgbClr val="7B1F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3291840" y="10058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Telegram Bot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3429000" y="1508760"/>
            <a:ext cx="22856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Latency: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7B1FA2"/>
                </a:solidFill>
                <a:effectLst/>
                <a:uFillTx/>
                <a:latin typeface="Calibri"/>
                <a:ea typeface="Calibri"/>
              </a:rPr>
              <a:t>100-300ms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Protocol: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Telegram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Internet: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Required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6126480" y="1005840"/>
            <a:ext cx="2559960" cy="1828440"/>
          </a:xfrm>
          <a:prstGeom prst="rect">
            <a:avLst/>
          </a:prstGeom>
          <a:solidFill>
            <a:srgbClr val="F5F9FF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6126480" y="1005840"/>
            <a:ext cx="2559960" cy="411120"/>
          </a:xfrm>
          <a:prstGeom prst="rect">
            <a:avLst/>
          </a:prstGeom>
          <a:solidFill>
            <a:srgbClr val="00BC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6126480" y="10058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MQTT Cloud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6263640" y="1508760"/>
            <a:ext cx="22856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Latency: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00BCD4"/>
                </a:solidFill>
                <a:effectLst/>
                <a:uFillTx/>
                <a:latin typeface="Calibri"/>
                <a:ea typeface="Calibri"/>
              </a:rPr>
              <a:t>50-200ms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Protocol: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MQTT over WSS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Internet: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212121"/>
                </a:solidFill>
                <a:effectLst/>
                <a:uFillTx/>
                <a:latin typeface="Calibri"/>
                <a:ea typeface="Calibri"/>
              </a:rPr>
              <a:t>Required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457200" y="3063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3A047"/>
                </a:solidFill>
                <a:effectLst/>
                <a:uFillTx/>
                <a:latin typeface="Trebuchet MS"/>
                <a:ea typeface="Trebuchet MS"/>
              </a:rPr>
              <a:t>Test Results: All 13 Tests Passed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457200" y="3520440"/>
            <a:ext cx="1508400" cy="1005480"/>
          </a:xfrm>
          <a:prstGeom prst="rect">
            <a:avLst/>
          </a:prstGeom>
          <a:solidFill>
            <a:srgbClr val="E3F2FD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457200" y="356616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65C0"/>
                </a:solidFill>
                <a:effectLst/>
                <a:uFillTx/>
                <a:latin typeface="Trebuchet MS"/>
                <a:ea typeface="Trebuchet MS"/>
              </a:rPr>
              <a:t>10 FPS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457200" y="406908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Camera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2148840" y="3520440"/>
            <a:ext cx="1508400" cy="1005480"/>
          </a:xfrm>
          <a:prstGeom prst="rect">
            <a:avLst/>
          </a:prstGeom>
          <a:solidFill>
            <a:srgbClr val="E3F2FD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2148840" y="356616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65C0"/>
                </a:solidFill>
                <a:effectLst/>
                <a:uFillTx/>
                <a:latin typeface="Trebuchet MS"/>
                <a:ea typeface="Trebuchet MS"/>
              </a:rPr>
              <a:t>~7 FPS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2148840" y="406908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AI Processing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3840480" y="3520440"/>
            <a:ext cx="1508400" cy="1005480"/>
          </a:xfrm>
          <a:prstGeom prst="rect">
            <a:avLst/>
          </a:prstGeom>
          <a:solidFill>
            <a:srgbClr val="E3F2FD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3840480" y="356616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65C0"/>
                </a:solidFill>
                <a:effectLst/>
                <a:uFillTx/>
                <a:latin typeface="Trebuchet MS"/>
                <a:ea typeface="Trebuchet MS"/>
              </a:rPr>
              <a:t>~85%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3"/>
          <p:cNvSpPr/>
          <p:nvPr/>
        </p:nvSpPr>
        <p:spPr>
          <a:xfrm>
            <a:off x="3840480" y="406908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Collision Accuracy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4"/>
          <p:cNvSpPr/>
          <p:nvPr/>
        </p:nvSpPr>
        <p:spPr>
          <a:xfrm>
            <a:off x="5532120" y="3520440"/>
            <a:ext cx="1508400" cy="1005480"/>
          </a:xfrm>
          <a:prstGeom prst="rect">
            <a:avLst/>
          </a:prstGeom>
          <a:solidFill>
            <a:srgbClr val="E3F2FD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5532120" y="356616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65C0"/>
                </a:solidFill>
                <a:effectLst/>
                <a:uFillTx/>
                <a:latin typeface="Trebuchet MS"/>
                <a:ea typeface="Trebuchet MS"/>
              </a:rPr>
              <a:t>~90%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5532120" y="406908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Traffic Light Accuracy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7"/>
          <p:cNvSpPr/>
          <p:nvPr/>
        </p:nvSpPr>
        <p:spPr>
          <a:xfrm>
            <a:off x="7223760" y="3520440"/>
            <a:ext cx="1508400" cy="1005480"/>
          </a:xfrm>
          <a:prstGeom prst="rect">
            <a:avLst/>
          </a:prstGeom>
          <a:solidFill>
            <a:srgbClr val="E3F2FD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8"/>
          <p:cNvSpPr/>
          <p:nvPr/>
        </p:nvSpPr>
        <p:spPr>
          <a:xfrm>
            <a:off x="7223760" y="356616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565C0"/>
                </a:solidFill>
                <a:effectLst/>
                <a:uFillTx/>
                <a:latin typeface="Trebuchet MS"/>
                <a:ea typeface="Trebuchet MS"/>
              </a:rPr>
              <a:t>~30s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9"/>
          <p:cNvSpPr/>
          <p:nvPr/>
        </p:nvSpPr>
        <p:spPr>
          <a:xfrm>
            <a:off x="7223760" y="4069080"/>
            <a:ext cx="15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Boot 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457200" y="4663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07D8B"/>
                </a:solidFill>
                <a:effectLst/>
                <a:uFillTx/>
                <a:latin typeface="Calibri"/>
                <a:ea typeface="Calibri"/>
              </a:rPr>
              <a:t>MQTT topics enable real-time command, speed, mode, camera stream, and status updates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0BC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548640" y="365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"/>
          <p:cNvSpPr/>
          <p:nvPr/>
        </p:nvSpPr>
        <p:spPr>
          <a:xfrm>
            <a:off x="1097280" y="3657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Conclusion and Future Scope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48640" y="10515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CD4"/>
                </a:solidFill>
                <a:effectLst/>
                <a:uFillTx/>
                <a:latin typeface="Trebuchet MS"/>
                <a:ea typeface="Trebuchet MS"/>
              </a:rPr>
              <a:t>Key Achievements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8640" y="1417320"/>
            <a:ext cx="41144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driving modes + 6 AI features on RPi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Edge AI at ~7 FPS, sub-100ms latency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 control channels (WiFi, Telegram, MQTT)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Automatic accident SOS with photo evidence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Total cost under INR 5,000 (0.1% of Tesla)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5029200" y="1051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BCD4"/>
                </a:solidFill>
                <a:effectLst/>
                <a:uFillTx/>
                <a:latin typeface="Trebuchet MS"/>
                <a:ea typeface="Trebuchet MS"/>
              </a:rPr>
              <a:t>Future Scope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5029200" y="1417320"/>
            <a:ext cx="38401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GPS module for location tracking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Ultrasonic sensors for distance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TensorFlow Lite for better detection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V2V communication via MQTT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SLAM for map-free navigation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Fleet management dashboard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4754880" y="1097280"/>
            <a:ext cx="18000" cy="2925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0" y="4297680"/>
            <a:ext cx="9143640" cy="84564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457200" y="43434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"SmartCar proves that intelligent vehicle systems can be democratized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through edge computing and open-source software."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0BC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0" y="9144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Thank You!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3200400" y="2103120"/>
            <a:ext cx="2742840" cy="36360"/>
          </a:xfrm>
          <a:prstGeom prst="rect">
            <a:avLst/>
          </a:prstGeom>
          <a:solidFill>
            <a:srgbClr val="00BC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0" y="23774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0" y="283464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57200" y="44348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SmartCar - AI-Powered Autonomous Vehicle System  |  Govt. Engineering College, Ajmer  |  2025-2026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2026-04-06T06:04:58Z</dcterms:created>
  <dc:creator>Pr4xh4r</dc:creator>
  <dc:description/>
  <dc:language>en-US</dc:language>
  <cp:lastModifiedBy/>
  <dcterms:modified xsi:type="dcterms:W3CDTF">2026-04-06T11:38:53Z</dcterms:modified>
  <cp:revision>2</cp:revision>
  <dc:subject>PptxGenJS Presentation</dc:subject>
  <dc:title>SmartCar - AI-Powered Autonomous Vehicle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